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640080"/>
            <a:ext cx="2194560" cy="2194560"/>
          </a:xfrm>
          <a:prstGeom prst="ellipse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1920240"/>
            <a:ext cx="1188720" cy="1188720"/>
          </a:xfrm>
          <a:prstGeom prst="ellipse">
            <a:avLst/>
          </a:prstGeom>
          <a:solidFill>
            <a:srgbClr val="28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108960"/>
            <a:ext cx="914400" cy="914400"/>
          </a:xfrm>
          <a:prstGeom prst="ellipse">
            <a:avLst/>
          </a:prstGeom>
          <a:solidFill>
            <a:srgbClr val="22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Online Shopping Purchase Prediction</a:t>
            </a:r>
          </a:p>
          <a:p>
            <a:pPr>
              <a:spcBef>
                <a:spcPts val="1500"/>
              </a:spcBef>
              <a:defRPr sz="2300">
                <a:solidFill>
                  <a:srgbClr val="96E1E6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7132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EE8F3"/>
                </a:solidFill>
              </a:defRPr>
            </a:pPr>
            <a:r>
              <a:t>Project presentation • Jupyter Notebook workflow</a:t>
            </a:r>
          </a:p>
          <a:p>
            <a:pPr>
              <a:defRPr sz="1300">
                <a:solidFill>
                  <a:srgbClr val="BECDDC"/>
                </a:solidFill>
              </a:defRPr>
            </a:pPr>
            <a:r>
              <a:t>Prepared by: [Your Name]  |  [College / Internship]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Online stores receive many browsing sessions, but only a portion lead to a purchase.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Understanding purchase-intent patterns can help teams improve customer experience and campaign planning.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Goal: build a supervised machine-learning classifier to predict the session outcome (Revenue: purchase / no purchase).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Explore and understand session-level shopping behaviour.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Clean the dataset and prepare numerical and categorical features.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Train and compare classification models using a reproducible workflow.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Evaluate predictions with suitable metrics, especially for class imbalance.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Document the workflow in a Jupyter Notebook and provide reproducible project instructions.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82296" cy="1508760"/>
          </a:xfrm>
          <a:prstGeom prst="rect">
            <a:avLst/>
          </a:prstGeom>
          <a:solidFill>
            <a:srgbClr val="28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380744"/>
            <a:ext cx="3035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Session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303E"/>
                </a:solidFill>
              </a:defRPr>
            </a:pPr>
            <a:r>
              <a:t>Page counts, page durations, bounce and exit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82296" cy="1508760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380744"/>
            <a:ext cx="3035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303E"/>
                </a:solidFill>
              </a:defRPr>
            </a:pPr>
            <a:r>
              <a:t>Month, visitor type, weekend, traffic and device attributes.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82296" cy="1508760"/>
          </a:xfrm>
          <a:prstGeom prst="rect">
            <a:avLst/>
          </a:prstGeom>
          <a:solidFill>
            <a:srgbClr val="22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80744"/>
            <a:ext cx="3035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303E"/>
                </a:solidFill>
              </a:defRPr>
            </a:pPr>
            <a:r>
              <a:t>Revenue: purchase outcome for the session.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Dataset: online shopping session / purchase-intention records.</a:t>
            </a:r>
          </a:p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Typical input fields: page counts and durations, BounceRates, ExitRates, PageValues, SpecialDay, Month, VisitorType, Weekend, and traffic/device attributes.</a:t>
            </a:r>
          </a:p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Target column: Revenue (whether the session resulted in a purchase).</a:t>
            </a:r>
          </a:p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Before training, verify the actual file name, row count, column names, missing values, and target labels in the notebook.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Workflow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82296" cy="1325880"/>
          </a:xfrm>
          <a:prstGeom prst="rect">
            <a:avLst/>
          </a:prstGeom>
          <a:solidFill>
            <a:srgbClr val="28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63624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2971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303E"/>
                </a:solidFill>
              </a:defRPr>
            </a:pPr>
            <a:r>
              <a:t>Load &amp; inspect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173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417320"/>
            <a:ext cx="82296" cy="1325880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563624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039112"/>
            <a:ext cx="2971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303E"/>
                </a:solidFill>
              </a:defRPr>
            </a:pPr>
            <a:r>
              <a:t>Clean &amp; explore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4173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417320"/>
            <a:ext cx="82296" cy="1325880"/>
          </a:xfrm>
          <a:prstGeom prst="rect">
            <a:avLst/>
          </a:prstGeom>
          <a:solidFill>
            <a:srgbClr val="22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1563624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039112"/>
            <a:ext cx="2971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303E"/>
                </a:solidFill>
              </a:defRPr>
            </a:pPr>
            <a:r>
              <a:t>Prepare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375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7560"/>
            <a:ext cx="82296" cy="1325880"/>
          </a:xfrm>
          <a:prstGeom prst="rect">
            <a:avLst/>
          </a:prstGeom>
          <a:solidFill>
            <a:srgbClr val="28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483864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59352"/>
            <a:ext cx="2971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303E"/>
                </a:solidFill>
              </a:defRPr>
            </a:pPr>
            <a:r>
              <a:t>Train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3375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337560"/>
            <a:ext cx="82296" cy="1325880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483864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959352"/>
            <a:ext cx="2971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303E"/>
                </a:solidFill>
              </a:defRPr>
            </a:pPr>
            <a:r>
              <a:t>Evaluate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3375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3337560"/>
            <a:ext cx="82296" cy="1325880"/>
          </a:xfrm>
          <a:prstGeom prst="rect">
            <a:avLst/>
          </a:prstGeom>
          <a:solidFill>
            <a:srgbClr val="22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3483864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3959352"/>
            <a:ext cx="2971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303E"/>
                </a:solidFill>
              </a:defRPr>
            </a:pPr>
            <a:r>
              <a:t>Save &amp; document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86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53F"/>
                </a:solidFill>
              </a:defRPr>
            </a:pPr>
            <a:r>
              <a:t>Keep preprocessing fitted only on training data to prevent data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Feature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Check inconsistent column names and data types before modelling.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Encode categorical features such as Month, VisitorType, and Weekend.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Scale numerical features for algorithms that are sensitive to feature magnitude.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Use a train/test split before fitting preprocessing steps to avoid data leakage.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Keep the same feature order and preprocessing steps for future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Start with a simple baseline to establish a reference point.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Candidate models may include Logistic Regression, Decision Tree, Random Forest, or another classifier supported by the notebook.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Use a fixed random_state for reproducibility.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Choose the final model based on measured test-set results and the project's evaluation goals—not training accuracy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Accuracy: overall fraction of correctly classified sessions.</a:t>
            </a:r>
          </a:p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Precision: among predicted purchases, the fraction that are actual purchases.</a:t>
            </a:r>
          </a:p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Recall: among actual purchases, the fraction detected by the model.</a:t>
            </a:r>
          </a:p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F1-score: balance between precision and recall.</a:t>
            </a:r>
          </a:p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Confusion matrix and ROC-AUC (when appropriate) provide additional insight.</a:t>
            </a:r>
          </a:p>
          <a:p>
            <a:pPr>
              <a:spcAft>
                <a:spcPts val="1300"/>
              </a:spcAft>
              <a:defRPr sz="1700">
                <a:solidFill>
                  <a:srgbClr val="25303E"/>
                </a:solidFill>
                <a:latin typeface="Aptos"/>
              </a:defRPr>
            </a:pPr>
            <a:r>
              <a:t>Insert the actual metrics generated by your notebook; this presentation intentionally does not invent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Expected Output &amp;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Predicted session outcome: purchase or no purchase.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An evaluation summary to compare model performance.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Saved preprocessing/model file(s), such as a scaler or trained estimator, when produced by the notebook.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Potential use: aggregate analysis for website UX, merchandising, and marketing experiments.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Predictions should support analysis, not be treated as certainty about an individual customer.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Limitations &amp;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Model performance depends on data quality, representativeness, and the train/test split.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Class imbalance can make accuracy misleading; inspect precision, recall, F1-score, and the confusion matrix.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Behavioural data may change over time, so monitor drift and retrain when justified.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Use only data you are authorised to process; minimise personal data and protect stored files.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Do not use predictions as the sole basis for consequential decisions about individual customers.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53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A"/>
                </a:solidFill>
              </a:defRPr>
            </a:pPr>
            <a:r>
              <a:t>ONLINE SHOPPING PURCHASE PREDICTION  •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The project demonstrates an end-to-end machine-learning classification workflow for online shopping sessions.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Final conclusions should be based on the measured test-set metrics and error analysis.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Future work: cross-validation, hyperparameter tuning, explainability, probability calibration, and a simple dashboard/API.</a:t>
            </a:r>
          </a:p>
          <a:p>
            <a:pPr>
              <a:spcAft>
                <a:spcPts val="1300"/>
              </a:spcAft>
              <a:defRPr sz="1900">
                <a:solidFill>
                  <a:srgbClr val="25303E"/>
                </a:solidFill>
                <a:latin typeface="Aptos"/>
              </a:defRPr>
            </a:pPr>
            <a:r>
              <a:t>Next step: run all notebook cells, record the actual metrics, and update this presentation and report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